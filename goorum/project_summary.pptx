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모델 vs 베이스라인 (±5% 적중률,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적중률(±5%)</c:v>
                </c:pt>
              </c:strCache>
            </c:strRef>
          </c:tx>
          <c:spPr>
            <a:solidFill>
              <a:srgbClr val="E3A85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6E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베이스라인
(전날종가유지)</c:v>
                  </c:pt>
                  <c:pt idx="1">
                    <c:v>Validation</c:v>
                  </c:pt>
                  <c:pt idx="2">
                    <c:v>Test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91.3</c:v>
                </c:pt>
                <c:pt idx="1">
                  <c:v>91.4</c:v>
                </c:pt>
                <c:pt idx="2">
                  <c:v>87.8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8E6E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8F9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80"/>
        </c:scaling>
        <c:delete val="0"/>
        <c:axPos val="l"/>
        <c:majorGridlines>
          <c:spPr>
            <a:ln w="6350" cap="flat">
              <a:solidFill>
                <a:srgbClr val="2A2F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8F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71C"/>
        </a:solidFill>
        <a:ln>
          <a:noFill/>
        </a:ln>
        <a:effectLst/>
      </c:spPr>
    </c:plotArea>
    <c:plotVisOnly val="1"/>
    <c:dispBlanksAs val="span"/>
  </c:chart>
  <c:spPr>
    <a:solidFill>
      <a:srgbClr val="14171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SHAP 변수중요도 Top5 (최종모델)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|SHAP|</c:v>
                </c:pt>
              </c:strCache>
            </c:strRef>
          </c:tx>
          <c:spPr>
            <a:solidFill>
              <a:srgbClr val="E3A857"/>
            </a:solidFill>
            <a:effectLst/>
          </c:spPr>
          <c:invertIfNegative val="0"/>
          <c:dLbls>
            <c:numFmt formatCode="0.00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6E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news_influence
_score</c:v>
                  </c:pt>
                  <c:pt idx="1">
                    <c:v>us_10y_treasury
_pct_change</c:v>
                  </c:pt>
                  <c:pt idx="2">
                    <c:v>종목코드</c:v>
                  </c:pt>
                  <c:pt idx="3">
                    <c:v>usd_krw</c:v>
                  </c:pt>
                  <c:pt idx="4">
                    <c:v>us_10y_treasury
_diff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0.000965</c:v>
                </c:pt>
                <c:pt idx="1">
                  <c:v>0.00038</c:v>
                </c:pt>
                <c:pt idx="2">
                  <c:v>0.000291</c:v>
                </c:pt>
                <c:pt idx="3">
                  <c:v>0.000278</c:v>
                </c:pt>
                <c:pt idx="4">
                  <c:v>0.000238</c:v>
                </c:pt>
              </c:numCache>
            </c:numRef>
          </c:val>
        </c:ser>
        <c:dLbls>
          <c:numFmt formatCode="0.000000" sourceLinked="0"/>
          <c:txPr>
            <a:bodyPr/>
            <a:lstStyle/>
            <a:p>
              <a:pPr>
                <a:defRPr b="0" i="0" strike="noStrike" sz="1000" u="none">
                  <a:solidFill>
                    <a:srgbClr val="E8E6E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8F9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2F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8F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71C"/>
        </a:solidFill>
        <a:ln>
          <a:noFill/>
        </a:ln>
        <a:effectLst/>
      </c:spPr>
    </c:plotArea>
    <c:plotVisOnly val="1"/>
    <c:dispBlanksAs val="span"/>
  </c:chart>
  <c:spPr>
    <a:solidFill>
      <a:srgbClr val="1417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3A8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20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KOSPI Top 50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뉴스 기반 주가 예측 AI 에이전트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정형데이터 + 뉴스 임베딩 + Attention-LSTM + XGBoost 파이프라인 구축 여정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743200" cy="0"/>
          </a:xfrm>
          <a:prstGeom prst="line">
            <a:avLst/>
          </a:prstGeom>
          <a:noFill/>
          <a:ln w="25400">
            <a:solidFill>
              <a:srgbClr val="E3A8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진행 요약 · 초안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개요와 목표의 진화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0"/>
          </a:xfrm>
          <a:prstGeom prst="line">
            <a:avLst/>
          </a:prstGeom>
          <a:noFill/>
          <a:ln w="38100">
            <a:solidFill>
              <a:srgbClr val="E3A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1B1F28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당초 목표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금리·환율·공시·뉴스가 주가에 얼마나 영향을 미치는지 분석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에이전트가 예측 근거를 자연어로 설명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정확도 "±5% 오차, 70% 이상" 달성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931920"/>
            <a:ext cx="4572000" cy="0"/>
          </a:xfrm>
          <a:prstGeom prst="line">
            <a:avLst/>
          </a:prstGeom>
          <a:noFill/>
          <a:ln w="12700">
            <a:solidFill>
              <a:srgbClr val="2A2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목표를 재정의한 이유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26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"전날 종가 유지" 베이스라인이 이미 87~91% 적중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절대치 목표보다 베이스라인 대비 우위가 진짜 성능 지표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파이프라인 한눈에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9659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50종목 5년치 정형데이터 (가격·수급·펀더멘털·거시·공시)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2743200"/>
            <a:ext cx="457200" cy="45720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2743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수집 → 다국어 임베딩 → Attention-LSTM (종목별 영향력)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3520440"/>
            <a:ext cx="457200" cy="45720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3520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최종모델 (63개 feature) 학습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4297680"/>
            <a:ext cx="457200" cy="45720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297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· Attention · Leave-One-Out 3단계 설명가능성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5074920"/>
            <a:ext cx="457200" cy="45720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50749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대시보드 + 내일 예측 파이프라인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KOSPI Top50 뉴스기반 주가예측 AI 에이전트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아키텍처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0"/>
          </a:xfrm>
          <a:prstGeom prst="line">
            <a:avLst/>
          </a:prstGeom>
          <a:noFill/>
          <a:ln w="38100">
            <a:solidFill>
              <a:srgbClr val="E3A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291840" cy="3657600"/>
          </a:xfrm>
          <a:prstGeom prst="roundRect">
            <a:avLst>
              <a:gd name="adj" fmla="val 2222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 데이터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09728" cy="109728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가격/기술지표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624328"/>
            <a:ext cx="109728" cy="109728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25328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투자자수급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191256"/>
            <a:ext cx="109728" cy="109728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0998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펀더멘털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758184"/>
            <a:ext cx="109728" cy="109728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36667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환율/금리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325112"/>
            <a:ext cx="109728" cy="109728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4233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공시(DART)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0" y="1371600"/>
            <a:ext cx="3291840" cy="3657600"/>
          </a:xfrm>
          <a:prstGeom prst="roundRect">
            <a:avLst>
              <a:gd name="adj" fmla="val 2222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3484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데이터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34840" y="2057400"/>
            <a:ext cx="109728" cy="109728"/>
          </a:xfrm>
          <a:prstGeom prst="ellipse">
            <a:avLst/>
          </a:prstGeom>
          <a:solidFill>
            <a:srgbClr val="C166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6344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빅카인즈+GDELT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2624328"/>
            <a:ext cx="109728" cy="109728"/>
          </a:xfrm>
          <a:prstGeom prst="ellipse">
            <a:avLst/>
          </a:prstGeom>
          <a:solidFill>
            <a:srgbClr val="C166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63440" y="25328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 임베딩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34840" y="3191256"/>
            <a:ext cx="109728" cy="109728"/>
          </a:xfrm>
          <a:prstGeom prst="ellipse">
            <a:avLst/>
          </a:prstGeom>
          <a:solidFill>
            <a:srgbClr val="C1666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63440" y="30998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Attention-LSTM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3758184"/>
            <a:ext cx="109728" cy="109728"/>
          </a:xfrm>
          <a:prstGeom prst="ellipse">
            <a:avLst/>
          </a:prstGeom>
          <a:solidFill>
            <a:srgbClr val="C1666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63440" y="36667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종목별 영향력점수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35240" y="2926080"/>
            <a:ext cx="548640" cy="365760"/>
          </a:xfrm>
          <a:prstGeom prst="rightArrow">
            <a:avLst/>
          </a:prstGeom>
          <a:solidFill>
            <a:srgbClr val="8B8F98"/>
          </a:solidFill>
          <a:ln/>
        </p:spPr>
      </p:sp>
      <p:sp>
        <p:nvSpPr>
          <p:cNvPr id="27" name="Shape 25"/>
          <p:cNvSpPr/>
          <p:nvPr/>
        </p:nvSpPr>
        <p:spPr>
          <a:xfrm>
            <a:off x="8321040" y="13716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03920" y="15544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(63개 feature)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784080" y="3200400"/>
            <a:ext cx="365760" cy="502920"/>
          </a:xfrm>
          <a:prstGeom prst="downArrow">
            <a:avLst/>
          </a:prstGeom>
          <a:solidFill>
            <a:srgbClr val="8B8F98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379476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03920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· Attention · LOO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설명가능성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2578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(실제vs예측, SHAP랭킹, 뉴스영향력) ＋ predict_tomorrow.py (실시간 다음날 예측)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KOSPI Top50 뉴스기반 주가예측 AI 에이전트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파이프라인 ① 정형 데이터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0"/>
          </a:xfrm>
          <a:prstGeom prst="line">
            <a:avLst/>
          </a:prstGeom>
          <a:noFill/>
          <a:ln w="38100">
            <a:solidFill>
              <a:srgbClr val="E3A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2240280"/>
          </a:xfrm>
          <a:prstGeom prst="rect">
            <a:avLst/>
          </a:prstGeom>
          <a:solidFill>
            <a:srgbClr val="E3A8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· 기술지표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OHLCV, MA5~120, RSI14, MACD, 볼린저밴드, Stochastic, ATR, OBV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37160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5112" y="1371600"/>
            <a:ext cx="73152" cy="2240280"/>
          </a:xfrm>
          <a:prstGeom prst="rect">
            <a:avLst/>
          </a:prstGeom>
          <a:solidFill>
            <a:srgbClr val="E3A8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9432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투자자별 수급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기관/외국인/개인/기타법인 순매수 → 거래대금 대비 비율로 정규화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37160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371600"/>
            <a:ext cx="73152" cy="2240280"/>
          </a:xfrm>
          <a:prstGeom prst="rect">
            <a:avLst/>
          </a:prstGeom>
          <a:solidFill>
            <a:srgbClr val="E3A8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75904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펀더멘털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PER·PBR·BPS·EPS·DIV·DPS → 동일 결측 마커 정제 + 종목간 z-score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40480"/>
            <a:ext cx="73152" cy="2240280"/>
          </a:xfrm>
          <a:prstGeom prst="rect">
            <a:avLst/>
          </a:prstGeom>
          <a:solidFill>
            <a:srgbClr val="E3A8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거시지표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4348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원/달러 환율, 한국 기준금리, 美 연방기금금리·10년물 (ECOS/FRED)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25112" y="38404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5112" y="3840480"/>
            <a:ext cx="73152" cy="2240280"/>
          </a:xfrm>
          <a:prstGeom prst="rect">
            <a:avLst/>
          </a:prstGeom>
          <a:solidFill>
            <a:srgbClr val="E3A85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99432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공시(DART)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44348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주요사항보고·발행공시·거래소공시 건수, 우선주 corp_code 매핑 포함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01584" y="38404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1584" y="3840480"/>
            <a:ext cx="73152" cy="2240280"/>
          </a:xfrm>
          <a:prstGeom prst="rect">
            <a:avLst/>
          </a:prstGeom>
          <a:solidFill>
            <a:srgbClr val="E3A85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75904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거래정지 플래그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375904" y="44348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거래량=0 자동탐지, 인적분할·재상장 구간 타겟 오염 방지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KOSPI Top50 뉴스기반 주가예측 AI 에이전트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파이프라인 ② 뉴스 → Attention-LSTM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0"/>
          </a:xfrm>
          <a:prstGeom prst="line">
            <a:avLst/>
          </a:prstGeom>
          <a:noFill/>
          <a:ln w="38100">
            <a:solidFill>
              <a:srgbClr val="E3A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1325880"/>
            <a:ext cx="9509760" cy="777240"/>
          </a:xfrm>
          <a:prstGeom prst="roundRect">
            <a:avLst>
              <a:gd name="adj" fmla="val 9412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132588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수집 (빅카인즈 국내 + GDELT/NewsAPI 해외, 다국어)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2377440"/>
            <a:ext cx="9509760" cy="777240"/>
          </a:xfrm>
          <a:prstGeom prst="roundRect">
            <a:avLst>
              <a:gd name="adj" fmla="val 9412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237744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 단위 다국어 문장 임베딩 (768차원)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88720" y="3429000"/>
            <a:ext cx="9509760" cy="777240"/>
          </a:xfrm>
          <a:prstGeom prst="roundRect">
            <a:avLst>
              <a:gd name="adj" fmla="val 9412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63040" y="342900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일자별 평균 풀링 + 기사수(log) → 7일 시퀀스 구성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8720" y="4480560"/>
            <a:ext cx="9509760" cy="777240"/>
          </a:xfrm>
          <a:prstGeom prst="roundRect">
            <a:avLst>
              <a:gd name="adj" fmla="val 9412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63040" y="448056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Attention-LSTM: 7일 뉴스 → 종목 50개 각각의 영향력 점수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B1F28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설계: </a:t>
            </a:r>
            <a:pPr indent="0" marL="0"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출력을 시장평균 1개가 아니라 종목별 50개 벡터로 - 같은 뉴스에 종목마다 다르게 반응하는 패턴을 Dense(50)의 종목별 가중치로 학습 (방향 C)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KOSPI Top50 뉴스기반 주가예측 AI 에이전트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평가 프레임워크: 왜 베이스라인 비교가 핵심인가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0"/>
          </a:xfrm>
          <a:prstGeom prst="line">
            <a:avLst/>
          </a:prstGeom>
          <a:noFill/>
          <a:ln w="38100">
            <a:solidFill>
              <a:srgbClr val="E3A857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3716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발견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201168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베이스라인 자체가 87~91% - 절대치 목표(70%)는 이미 손쉽게 초과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관건은 "모델이 베이스라인을 이기는가"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방향적중률: Val 51.2% / Test 50.4% (랜덤=50%)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우위: Val +10건 / Test +5건 (수천 건 중)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KOSPI Top50 뉴스기반 주가예측 AI 에이전트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성능 개선 여정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0"/>
          </a:xfrm>
          <a:prstGeom prst="line">
            <a:avLst/>
          </a:prstGeom>
          <a:noFill/>
          <a:ln w="38100">
            <a:solidFill>
              <a:srgbClr val="E3A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8B8F9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1691640"/>
            <a:ext cx="2377440" cy="0"/>
          </a:xfrm>
          <a:prstGeom prst="line">
            <a:avLst/>
          </a:prstGeom>
          <a:noFill/>
          <a:ln w="25400">
            <a:solidFill>
              <a:srgbClr val="2A2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(46 feature)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803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뉴스결측 구간 포함 → Test 순수우위 -48건 (심각한 열위)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457200" cy="457200"/>
          </a:xfrm>
          <a:prstGeom prst="ellipse">
            <a:avLst/>
          </a:prstGeom>
          <a:solidFill>
            <a:srgbClr val="8B8F9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32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0" y="1691640"/>
            <a:ext cx="2377440" cy="0"/>
          </a:xfrm>
          <a:prstGeom prst="line">
            <a:avLst/>
          </a:prstGeom>
          <a:noFill/>
          <a:ln w="25400">
            <a:solidFill>
              <a:srgbClr val="2A2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10312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뉴스결측 원인 진단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8803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임베딩이 4/2까지만 존재 → 데이터 컷오프로 평가구간 정합성 확보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rgbClr val="8B8F9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75120" y="1691640"/>
            <a:ext cx="2377440" cy="0"/>
          </a:xfrm>
          <a:prstGeom prst="line">
            <a:avLst/>
          </a:prstGeom>
          <a:noFill/>
          <a:ln w="25400">
            <a:solidFill>
              <a:srgbClr val="2A2F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10312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macro+dart 추가 (63 feature)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8803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환율·금리·공시 반영 → SHAP 2~4위에 macro feature 등장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1463040"/>
            <a:ext cx="457200" cy="45720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525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52560" y="210312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20242F"/>
          </a:solidFill>
          <a:ln w="12700">
            <a:solidFill>
              <a:srgbClr val="E3A8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3544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(feature pruning 비교)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8803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+10 / Test +5 순수우위 - 처음으로 양쪽 모두 양(+)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B1F28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120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교훈: </a:t>
            </a:r>
            <a:pPr indent="0" marL="0">
              <a:buNone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공백을 눈치채지 못하면 "모델이 나쁘다"는 잘못된 결론에 도달할 수 있음. 원인(데이터 vs 모델)을 먼저 정확히 가르는 진단이 성능 개선보다 선행되어야 함.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KOSPI Top50 뉴스기반 주가예측 AI 에이전트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발견: 무엇이 예측을 움직이는가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0"/>
          </a:xfrm>
          <a:prstGeom prst="line">
            <a:avLst/>
          </a:prstGeom>
          <a:noFill/>
          <a:ln w="38100">
            <a:solidFill>
              <a:srgbClr val="E3A857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3716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신호, 그 실체는?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201168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"기사수(볼륨)" - 다음날 수익률 상관관계: 0.146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정교한 점수의 상관관계: Test 0.012~0.027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신호의 상당 부분이 "내용"보다 "보도량 자체"에서 왔을 가능성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미국채·환율 등 macro feature도 상위권 - 경제이론과 부합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KOSPI Top50 뉴스기반 주가예측 AI 에이전트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설명가능성 3단계: SHAP → Attention → Leave-One-Out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0"/>
          </a:xfrm>
          <a:prstGeom prst="line">
            <a:avLst/>
          </a:prstGeom>
          <a:noFill/>
          <a:ln w="38100">
            <a:solidFill>
              <a:srgbClr val="E3A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SHAP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변수가 중요했나?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63개 feature 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news_influence_score, macro 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기여도 순위화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2926080"/>
            <a:ext cx="320040" cy="320040"/>
          </a:xfrm>
          <a:prstGeom prst="rightArrow">
            <a:avLst/>
          </a:prstGeom>
          <a:solidFill>
            <a:srgbClr val="8B8F98"/>
          </a:solidFill>
          <a:ln/>
        </p:spPr>
      </p:sp>
      <p:sp>
        <p:nvSpPr>
          <p:cNvPr id="9" name="Shape 7"/>
          <p:cNvSpPr/>
          <p:nvPr/>
        </p:nvSpPr>
        <p:spPr>
          <a:xfrm>
            <a:off x="4325112" y="12801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3712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Attention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날짜가 중요했나?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5146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7일 뉴스 시퀀스 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가중치 높은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"중요일" 특정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36992" y="2926080"/>
            <a:ext cx="320040" cy="320040"/>
          </a:xfrm>
          <a:prstGeom prst="rightArrow">
            <a:avLst/>
          </a:prstGeom>
          <a:solidFill>
            <a:srgbClr val="8B8F98"/>
          </a:solidFill>
          <a:ln/>
        </p:spPr>
      </p:sp>
      <p:sp>
        <p:nvSpPr>
          <p:cNvPr id="14" name="Shape 12"/>
          <p:cNvSpPr/>
          <p:nvPr/>
        </p:nvSpPr>
        <p:spPr>
          <a:xfrm>
            <a:off x="8101584" y="12801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30184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Leave-One-Out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30184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기사였나?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25146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그날 기사를 하나씩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제외해보며 예측 변화량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→ 기사 랭킹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B1F28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0749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연동: </a:t>
            </a:r>
            <a:pPr indent="0" marL="0">
              <a:buNone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vs 예측 종가 차트, SHAP 랭킹, 뉴스 영향력 랭킹을 한 화면에서 종목·날짜별로 확인 (다크 터미널 테마, 100% 로컬 HTML)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KOSPI Top50 뉴스기반 주가예측 AI 에이전트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실시간 "내일 예측" 파이프라인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0"/>
          </a:xfrm>
          <a:prstGeom prst="line">
            <a:avLst/>
          </a:prstGeom>
          <a:noFill/>
          <a:ln w="38100">
            <a:solidFill>
              <a:srgbClr val="E3A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1325880"/>
            <a:ext cx="9509760" cy="777240"/>
          </a:xfrm>
          <a:prstGeom prst="roundRect">
            <a:avLst>
              <a:gd name="adj" fmla="val 9412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132588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오늘자 정형데이터(가격·수급·펀더멘털·거시·공시) 갱신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2377440"/>
            <a:ext cx="9509760" cy="777240"/>
          </a:xfrm>
          <a:prstGeom prst="roundRect">
            <a:avLst>
              <a:gd name="adj" fmla="val 9412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237744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7일 뉴스만 임베딩 (5년 재수집 불필요, 몇 분 내 완료)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88720" y="3429000"/>
            <a:ext cx="9509760" cy="777240"/>
          </a:xfrm>
          <a:prstGeom prst="roundRect">
            <a:avLst>
              <a:gd name="adj" fmla="val 9412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63040" y="342900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predict_today_news_score.py - LSTM 추론으로 오늘의 종목별 뉴스점수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8720" y="4480560"/>
            <a:ext cx="9509760" cy="777240"/>
          </a:xfrm>
          <a:prstGeom prst="roundRect">
            <a:avLst>
              <a:gd name="adj" fmla="val 9412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63040" y="448056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predict_tomorrow.py - XGBoost 예측 + SHAP + 대시보드 CSV 자동 갱신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B1F28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재학습 불필요: </a:t>
            </a:r>
            <a:pPr indent="0" marL="0"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 추론만 - 학습된 종목 유니버스(50개)가 그대로 유지되어야 함 (실제 시가총액 순위가 아니라 학습에 쓴 고정 종목코드 리스트 기준)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KOSPI Top50 뉴스기반 주가예측 AI 에이전트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 요약과 한계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0"/>
          </a:xfrm>
          <a:prstGeom prst="line">
            <a:avLst/>
          </a:prstGeom>
          <a:noFill/>
          <a:ln w="38100">
            <a:solidFill>
              <a:srgbClr val="E3A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달성한 것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5년치 다중소스 데이터 파이프라인 구축 완료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Val·Test 양쪽 모두 베이스라인 대비 양(+)의 우위 확보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SHAP·Attention·LOO 3단계 설명가능성 확보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대시보드 + 내일예측 파이프라인 완성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다수의 데이터품질 이슈 발견·해결 (거래정지, 우선주 매핑, 프록시 설정, 캐시된 config 등)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20242F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솔직한 한계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920240"/>
            <a:ext cx="4846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방향적중률 50~52% - 랜덤과 거의 구분 안 되는 수준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우위가 수천 건 중 한 자릿수~10건대 - 통계적으로 미약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신호의 상당 부분이 "내용" 아닌 "보도량" 효과일 가능성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예측가가 전날 종가에 근접 - 신호가 약할 때 MSE 손실함수가 보이는 정상적 현상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판단 근거로 사용 불가 - 투자 조언이 아님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KOSPI Top50 뉴스기반 주가예측 AI 에이전트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 (진행 예정)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0"/>
          </a:xfrm>
          <a:prstGeom prst="line">
            <a:avLst/>
          </a:prstGeom>
          <a:noFill/>
          <a:ln w="38100">
            <a:solidFill>
              <a:srgbClr val="E3A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2148840"/>
          </a:xfrm>
          <a:prstGeom prst="rect">
            <a:avLst/>
          </a:prstGeom>
          <a:solidFill>
            <a:srgbClr val="E3A8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시장대비 초과수익(알파)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종목수익률 - 시장평균 → "다 같이 움직인 것"과 "이 종목만의 이유" 분리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371600"/>
            <a:ext cx="73152" cy="2148840"/>
          </a:xfrm>
          <a:prstGeom prst="rect">
            <a:avLst/>
          </a:prstGeom>
          <a:solidFill>
            <a:srgbClr val="E3A8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통화량(M2) 지표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057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 101Y003 - 시중 유동성 총량을 직접 반영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49040"/>
            <a:ext cx="73152" cy="2148840"/>
          </a:xfrm>
          <a:prstGeom prst="rect">
            <a:avLst/>
          </a:prstGeom>
          <a:solidFill>
            <a:srgbClr val="E3A8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931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실질금리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434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기준금리 - 물가상승률(YoY, CPI 901Y009) - 자산배분 유인을 더 정확히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20242F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749040"/>
            <a:ext cx="73152" cy="2148840"/>
          </a:xfrm>
          <a:prstGeom prst="rect">
            <a:avLst/>
          </a:prstGeom>
          <a:solidFill>
            <a:srgbClr val="E3A8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3931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Weights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434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경제이론 근거 뚜렷한 변수에 안전하게 우선순위 (방향 강제는 안 함)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KOSPI Top50 뉴스기반 주가예측 AI 에이전트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3A8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및 피드백 환영합니다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2026-08-31T12:49:25Z</dcterms:created>
  <dcterms:modified xsi:type="dcterms:W3CDTF">2026-08-31T12:49:25Z</dcterms:modified>
</cp:coreProperties>
</file>